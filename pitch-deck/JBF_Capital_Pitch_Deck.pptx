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667EEA"/>
            </a:gs>
            <a:gs pos="100000">
              <a:srgbClr val="764BA2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JBF CAPITAL</a:t>
            </a:r>
          </a:p>
          <a:p>
            <a:pPr algn="ctr">
              <a:spcBef>
                <a:spcPts val="2000"/>
              </a:spcBef>
              <a:defRPr sz="2400">
                <a:solidFill>
                  <a:srgbClr val="FFFFFF"/>
                </a:solidFill>
              </a:defRPr>
            </a:pPr>
            <a:r>
              <a:t>Democratizando o Acesso ao Crédito</a:t>
            </a:r>
          </a:p>
          <a:p>
            <a:pPr algn="ctr">
              <a:spcBef>
                <a:spcPts val="3000"/>
              </a:spcBef>
              <a:defRPr sz="1600">
                <a:solidFill>
                  <a:srgbClr val="FFFFFF"/>
                </a:solidFill>
              </a:defRPr>
            </a:pPr>
            <a:r>
              <a:t>Conectando pessoas a soluções financeiras inteligentes através de tecnologia e parcerias estratégicas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179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Janeiro 2026 • Versão 1.1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863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293B"/>
                </a:solidFill>
              </a:defRPr>
            </a:pPr>
            <a:r>
              <a:t>O Mercado de Crédito no Brasil</a:t>
            </a:r>
          </a:p>
          <a:p>
            <a:pPr>
              <a:spcBef>
                <a:spcPts val="1000"/>
              </a:spcBef>
              <a:defRPr sz="1800">
                <a:solidFill>
                  <a:srgbClr val="64748B"/>
                </a:solidFill>
              </a:defRPr>
            </a:pPr>
            <a:r>
              <a:t>Uma oportunidade de R$ 5,4 trilhões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475569"/>
                </a:solidFill>
              </a:defRPr>
            </a:pPr>
            <a:r>
              <a:t>📊 Estoque de crédito: R$ 5,4 trilhões (2024)</a:t>
            </a:r>
          </a:p>
          <a:p>
            <a:pPr>
              <a:spcAft>
                <a:spcPts val="1200"/>
              </a:spcAft>
              <a:defRPr sz="1600">
                <a:solidFill>
                  <a:srgbClr val="475569"/>
                </a:solidFill>
              </a:defRPr>
            </a:pPr>
            <a:r>
              <a:t>⚠️ Apenas 30% da população tem acesso adequado</a:t>
            </a:r>
          </a:p>
          <a:p>
            <a:pPr>
              <a:spcAft>
                <a:spcPts val="1200"/>
              </a:spcAft>
              <a:defRPr sz="1600">
                <a:solidFill>
                  <a:srgbClr val="475569"/>
                </a:solidFill>
              </a:defRPr>
            </a:pPr>
            <a:r>
              <a:t>📈 Crescimento anual de 12-15%</a:t>
            </a:r>
          </a:p>
          <a:p>
            <a:pPr>
              <a:spcAft>
                <a:spcPts val="1200"/>
              </a:spcAft>
              <a:defRPr sz="1600">
                <a:solidFill>
                  <a:srgbClr val="475569"/>
                </a:solidFill>
              </a:defRPr>
            </a:pPr>
            <a:r>
              <a:t>🏠 Home Equity: R$ 500 bi de potencial</a:t>
            </a:r>
          </a:p>
          <a:p>
            <a:pPr>
              <a:spcAft>
                <a:spcPts val="1200"/>
              </a:spcAft>
              <a:defRPr sz="1600">
                <a:solidFill>
                  <a:srgbClr val="475569"/>
                </a:solidFill>
              </a:defRPr>
            </a:pPr>
            <a:r>
              <a:t>🎯 Gap de acesso: 70% da população excluída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0" y="2286000"/>
            <a:ext cx="3657600" cy="274320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667EEA"/>
                </a:solidFill>
              </a:defRPr>
            </a:pPr>
            <a:r>
              <a:t>OPORTUNIDADE</a:t>
            </a:r>
          </a:p>
          <a:p>
            <a:br/>
            <a:pPr>
              <a:spcBef>
                <a:spcPts val="1500"/>
              </a:spcBef>
              <a:defRPr sz="1600">
                <a:solidFill>
                  <a:srgbClr val="475569"/>
                </a:solidFill>
              </a:defRPr>
            </a:pPr>
            <a:r>
              <a:t>Mercado em expansão com alta demanda por soluções digitais e transparentes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JBF Capital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64008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4A3B8"/>
                </a:solidFill>
              </a:defRPr>
            </a:pPr>
            <a:r>
              <a:t>Pitch Deck Institucional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863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293B"/>
                </a:solidFill>
              </a:defRPr>
            </a:pPr>
            <a:r>
              <a:t>Os Desafios do Acesso ao Crédito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011680"/>
            <a:ext cx="1463040" cy="27432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/>
            </a:pPr>
            <a:r>
              <a:t>📋</a:t>
            </a:r>
          </a:p>
          <a:p>
            <a:pPr algn="ctr">
              <a:spcBef>
                <a:spcPts val="1000"/>
              </a:spcBef>
              <a:defRPr sz="1300" b="1">
                <a:solidFill>
                  <a:srgbClr val="1E293B"/>
                </a:solidFill>
              </a:defRPr>
            </a:pPr>
            <a:r>
              <a:t>Burocracia</a:t>
            </a:r>
            <a:br/>
            <a:r>
              <a:t>Excessiva</a:t>
            </a:r>
          </a:p>
          <a:p>
            <a:pPr algn="ctr"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Processos manuais</a:t>
            </a:r>
            <a:br/>
            <a:r>
              <a:t>e papelada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2011680"/>
            <a:ext cx="1463040" cy="27432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/>
            </a:pPr>
            <a:r>
              <a:t>💸</a:t>
            </a:r>
          </a:p>
          <a:p>
            <a:pPr algn="ctr">
              <a:spcBef>
                <a:spcPts val="1000"/>
              </a:spcBef>
              <a:defRPr sz="1300" b="1">
                <a:solidFill>
                  <a:srgbClr val="1E293B"/>
                </a:solidFill>
              </a:defRPr>
            </a:pPr>
            <a:r>
              <a:t>Juros</a:t>
            </a:r>
            <a:br/>
            <a:r>
              <a:t>Abusivos</a:t>
            </a:r>
          </a:p>
          <a:p>
            <a:pPr algn="ctr"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Taxas até 300%</a:t>
            </a:r>
            <a:br/>
            <a:r>
              <a:t>sem transparência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31920" y="2011680"/>
            <a:ext cx="1463040" cy="27432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/>
            </a:pPr>
            <a:r>
              <a:t>⏱️</a:t>
            </a:r>
          </a:p>
          <a:p>
            <a:pPr algn="ctr">
              <a:spcBef>
                <a:spcPts val="1000"/>
              </a:spcBef>
              <a:defRPr sz="1300" b="1">
                <a:solidFill>
                  <a:srgbClr val="1E293B"/>
                </a:solidFill>
              </a:defRPr>
            </a:pPr>
            <a:r>
              <a:t>Processos</a:t>
            </a:r>
            <a:br/>
            <a:r>
              <a:t>Lentos</a:t>
            </a:r>
          </a:p>
          <a:p>
            <a:pPr algn="ctr"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30-60 dias para</a:t>
            </a:r>
            <a:br/>
            <a:r>
              <a:t>aprovação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2011680"/>
            <a:ext cx="1463040" cy="27432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/>
            </a:pPr>
            <a:r>
              <a:t>🤔</a:t>
            </a:r>
          </a:p>
          <a:p>
            <a:pPr algn="ctr">
              <a:spcBef>
                <a:spcPts val="1000"/>
              </a:spcBef>
              <a:defRPr sz="1300" b="1">
                <a:solidFill>
                  <a:srgbClr val="1E293B"/>
                </a:solidFill>
              </a:defRPr>
            </a:pPr>
            <a:r>
              <a:t>Falta de</a:t>
            </a:r>
            <a:br/>
            <a:r>
              <a:t>Transparência</a:t>
            </a:r>
          </a:p>
          <a:p>
            <a:pPr algn="ctr"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Taxas ocultas</a:t>
            </a:r>
            <a:br/>
            <a:r>
              <a:t>e letras miúdas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2011680"/>
            <a:ext cx="1463040" cy="27432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/>
            </a:pPr>
            <a:r>
              <a:t>🚫</a:t>
            </a:r>
          </a:p>
          <a:p>
            <a:pPr algn="ctr">
              <a:spcBef>
                <a:spcPts val="1000"/>
              </a:spcBef>
              <a:defRPr sz="1300" b="1">
                <a:solidFill>
                  <a:srgbClr val="1E293B"/>
                </a:solidFill>
              </a:defRPr>
            </a:pPr>
            <a:r>
              <a:t>Exclusão</a:t>
            </a:r>
          </a:p>
          <a:p>
            <a:pPr algn="ctr"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Score baixo =</a:t>
            </a:r>
            <a:br/>
            <a:r>
              <a:t>crédito negado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303520"/>
            <a:ext cx="6400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667EEA"/>
                </a:solidFill>
              </a:defRPr>
            </a:pPr>
            <a:r>
              <a:t>"73% dos brasileiros consideram o processo de obtenção de crédito confuso e demorado"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JBF Capital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64008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4A3B8"/>
                </a:solidFill>
              </a:defRPr>
            </a:pPr>
            <a:r>
              <a:t>Pitch Deck Institucional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863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293B"/>
                </a:solidFill>
              </a:defRPr>
            </a:pPr>
            <a:r>
              <a:t>JBF Capital: Tecnologia + Parcerias = Acesso Simplificado</a:t>
            </a:r>
          </a:p>
        </p:txBody>
      </p:sp>
      <p:sp>
        <p:nvSpPr>
          <p:cNvPr id="3" name="Oval 2"/>
          <p:cNvSpPr/>
          <p:nvPr/>
        </p:nvSpPr>
        <p:spPr>
          <a:xfrm>
            <a:off x="822960" y="2011680"/>
            <a:ext cx="640080" cy="640080"/>
          </a:xfrm>
          <a:prstGeom prst="ellipse">
            <a:avLst/>
          </a:prstGeom>
          <a:solidFill>
            <a:srgbClr val="667EEA"/>
          </a:solidFill>
          <a:ln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286000"/>
            <a:ext cx="137160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/>
            </a:pPr>
            <a:r>
              <a:t>🌐</a:t>
            </a:r>
          </a:p>
          <a:p>
            <a:pPr algn="ctr"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Cliente acessa</a:t>
            </a:r>
            <a:br/>
            <a:r>
              <a:t>plataforma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20" y="301752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667EEA"/>
                </a:solidFill>
              </a:defRPr>
            </a:pPr>
            <a:r>
              <a:t>→</a:t>
            </a:r>
          </a:p>
        </p:txBody>
      </p:sp>
      <p:sp>
        <p:nvSpPr>
          <p:cNvPr id="6" name="Oval 5"/>
          <p:cNvSpPr/>
          <p:nvPr/>
        </p:nvSpPr>
        <p:spPr>
          <a:xfrm>
            <a:off x="2560320" y="2011680"/>
            <a:ext cx="640080" cy="640080"/>
          </a:xfrm>
          <a:prstGeom prst="ellipse">
            <a:avLst/>
          </a:prstGeom>
          <a:solidFill>
            <a:srgbClr val="667EEA"/>
          </a:solidFill>
          <a:ln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2286000"/>
            <a:ext cx="137160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/>
            </a:pPr>
            <a:r>
              <a:t>🤖</a:t>
            </a:r>
          </a:p>
          <a:p>
            <a:pPr algn="ctr"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Análise</a:t>
            </a:r>
            <a:br/>
            <a:r>
              <a:t>inteligente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301752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667EEA"/>
                </a:solidFill>
              </a:defRPr>
            </a:pPr>
            <a:r>
              <a:t>→</a:t>
            </a:r>
          </a:p>
        </p:txBody>
      </p:sp>
      <p:sp>
        <p:nvSpPr>
          <p:cNvPr id="9" name="Oval 8"/>
          <p:cNvSpPr/>
          <p:nvPr/>
        </p:nvSpPr>
        <p:spPr>
          <a:xfrm>
            <a:off x="4297680" y="2011680"/>
            <a:ext cx="640080" cy="640080"/>
          </a:xfrm>
          <a:prstGeom prst="ellipse">
            <a:avLst/>
          </a:prstGeom>
          <a:solidFill>
            <a:srgbClr val="667EEA"/>
          </a:solidFill>
          <a:ln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0" y="2286000"/>
            <a:ext cx="137160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/>
            </a:pPr>
            <a:r>
              <a:t>🎯</a:t>
            </a:r>
          </a:p>
          <a:p>
            <a:pPr algn="ctr"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Matching com</a:t>
            </a:r>
            <a:br/>
            <a:r>
              <a:t>produtos ideais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301752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667EEA"/>
                </a:solidFill>
              </a:defRPr>
            </a:pPr>
            <a:r>
              <a:t>→</a:t>
            </a:r>
          </a:p>
        </p:txBody>
      </p:sp>
      <p:sp>
        <p:nvSpPr>
          <p:cNvPr id="12" name="Oval 11"/>
          <p:cNvSpPr/>
          <p:nvPr/>
        </p:nvSpPr>
        <p:spPr>
          <a:xfrm>
            <a:off x="6035039" y="2011680"/>
            <a:ext cx="640080" cy="640080"/>
          </a:xfrm>
          <a:prstGeom prst="ellipse">
            <a:avLst/>
          </a:prstGeom>
          <a:solidFill>
            <a:srgbClr val="667EEA"/>
          </a:solidFill>
          <a:ln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79" y="2286000"/>
            <a:ext cx="137160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/>
            </a:pPr>
            <a:r>
              <a:t>✅</a:t>
            </a:r>
          </a:p>
          <a:p>
            <a:pPr algn="ctr"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Aprovação</a:t>
            </a:r>
            <a:br/>
            <a:r>
              <a:t>em 48h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599" y="301752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667EEA"/>
                </a:solidFill>
              </a:defRPr>
            </a:pPr>
            <a:r>
              <a:t>→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0" y="2011680"/>
            <a:ext cx="640080" cy="640080"/>
          </a:xfrm>
          <a:prstGeom prst="ellipse">
            <a:avLst/>
          </a:prstGeom>
          <a:solidFill>
            <a:srgbClr val="667EEA"/>
          </a:solidFill>
          <a:ln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2286000"/>
            <a:ext cx="137160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/>
            </a:pPr>
            <a:r>
              <a:t>📱</a:t>
            </a:r>
          </a:p>
          <a:p>
            <a:pPr algn="ctr"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Contrato</a:t>
            </a:r>
            <a:br/>
            <a:r>
              <a:t>digital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4754880"/>
            <a:ext cx="6400800" cy="7315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Resultado: Experiência simples, rápida e transparente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JBF Capital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64008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4A3B8"/>
                </a:solidFill>
              </a:defRPr>
            </a:pPr>
            <a:r>
              <a:t>Pitch Deck Institucional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863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293B"/>
                </a:solidFill>
              </a:defRPr>
            </a:pPr>
            <a:r>
              <a:t>Arquitetura Técnica</a:t>
            </a:r>
          </a:p>
          <a:p>
            <a:pPr>
              <a:spcBef>
                <a:spcPts val="1000"/>
              </a:spcBef>
              <a:defRPr sz="1800">
                <a:solidFill>
                  <a:srgbClr val="64748B"/>
                </a:solidFill>
              </a:defRPr>
            </a:pPr>
            <a:r>
              <a:t>Escalável, Segura e Cloud-Native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828800"/>
            <a:ext cx="5029200" cy="640080"/>
          </a:xfrm>
          <a:prstGeom prst="roundRect">
            <a:avLst/>
          </a:prstGeom>
          <a:solidFill>
            <a:srgbClr val="849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🌐 Apresentação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Web App (React) • Mobile (React Native) • Portal Parceiros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51760"/>
            <a:ext cx="5029200" cy="640080"/>
          </a:xfrm>
          <a:prstGeom prst="roundRect">
            <a:avLst/>
          </a:prstGeom>
          <a:solidFill>
            <a:srgbClr val="98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🔐 API Gateway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OAuth 2.0 • Rate Limiting • Load Balancer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474720"/>
            <a:ext cx="5029200" cy="640080"/>
          </a:xfrm>
          <a:prstGeom prst="roundRect">
            <a:avLst/>
          </a:prstGeom>
          <a:solidFill>
            <a:srgbClr val="ACC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⚙️ Microserviços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Usuários • Crédito • Integração • Notificações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297680"/>
            <a:ext cx="5029200" cy="640080"/>
          </a:xfrm>
          <a:prstGeom prst="roundRect">
            <a:avLst/>
          </a:prstGeom>
          <a:solidFill>
            <a:srgbClr val="C0D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🗄️ Dados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PostgreSQL • MongoDB • Redis • ElasticSearch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120640"/>
            <a:ext cx="5029200" cy="640080"/>
          </a:xfrm>
          <a:prstGeom prst="roundRect">
            <a:avLst/>
          </a:prstGeom>
          <a:solidFill>
            <a:srgbClr val="D4E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☁️ Infraestrutura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AWS Cloud • Docker/K8s • CI/CD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828800"/>
            <a:ext cx="2743200" cy="411480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DESTAQUES TÉCNICOS</a:t>
            </a:r>
          </a:p>
          <a:p>
            <a:pPr>
              <a:spcBef>
                <a:spcPts val="800"/>
              </a:spcBef>
              <a:defRPr sz="1200">
                <a:solidFill>
                  <a:srgbClr val="475569"/>
                </a:solidFill>
              </a:defRPr>
            </a:pPr>
            <a:r>
              <a:t>✅ Uptime: 99.9%</a:t>
            </a:r>
          </a:p>
          <a:p>
            <a:pPr>
              <a:spcBef>
                <a:spcPts val="800"/>
              </a:spcBef>
              <a:defRPr sz="1200">
                <a:solidFill>
                  <a:srgbClr val="475569"/>
                </a:solidFill>
              </a:defRPr>
            </a:pPr>
            <a:r>
              <a:t>✅ Latência: &lt; 200ms</a:t>
            </a:r>
          </a:p>
          <a:p>
            <a:pPr>
              <a:spcBef>
                <a:spcPts val="800"/>
              </a:spcBef>
              <a:defRPr sz="1200">
                <a:solidFill>
                  <a:srgbClr val="475569"/>
                </a:solidFill>
              </a:defRPr>
            </a:pPr>
            <a:r>
              <a:t>✅ Escalabilidade horizontal</a:t>
            </a:r>
          </a:p>
          <a:p>
            <a:pPr>
              <a:spcBef>
                <a:spcPts val="800"/>
              </a:spcBef>
              <a:defRPr sz="1200">
                <a:solidFill>
                  <a:srgbClr val="475569"/>
                </a:solidFill>
              </a:defRPr>
            </a:pPr>
            <a:r>
              <a:t>✅ Backup 3x/dia</a:t>
            </a:r>
          </a:p>
          <a:p>
            <a:pPr>
              <a:spcBef>
                <a:spcPts val="800"/>
              </a:spcBef>
              <a:defRPr sz="1200">
                <a:solidFill>
                  <a:srgbClr val="475569"/>
                </a:solidFill>
              </a:defRPr>
            </a:pPr>
            <a:r>
              <a:t>✅ PCI-DSS &amp; ISO 27001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JBF Capital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64008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4A3B8"/>
                </a:solidFill>
              </a:defRPr>
            </a:pPr>
            <a:r>
              <a:t>Pitch Deck Institucional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863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293B"/>
                </a:solidFill>
              </a:defRPr>
            </a:pPr>
            <a:r>
              <a:t>Arquitetura de Integração</a:t>
            </a:r>
          </a:p>
          <a:p>
            <a:pPr>
              <a:spcBef>
                <a:spcPts val="1000"/>
              </a:spcBef>
              <a:defRPr sz="1800">
                <a:solidFill>
                  <a:srgbClr val="64748B"/>
                </a:solidFill>
              </a:defRPr>
            </a:pPr>
            <a:r>
              <a:t>API RESTful - Integração em 30 dias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011680"/>
            <a:ext cx="7863840" cy="228600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667EEA"/>
                </a:solidFill>
              </a:defRPr>
            </a:pPr>
            <a:r>
              <a:t>FLUXO DE INTEGRAÇÃO</a:t>
            </a:r>
          </a:p>
          <a:p>
            <a:br/>
            <a:pPr>
              <a:defRPr sz="1200">
                <a:solidFill>
                  <a:srgbClr val="1E293B"/>
                </a:solidFill>
              </a:defRPr>
            </a:pPr>
            <a:r>
              <a:t>1. Solicitação do Cliente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2. Validação e Roteamento JBF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3. Integração com Parceiros via API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4. Scoring e Matching Inteligente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5. Entrega da Proposta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572000"/>
            <a:ext cx="2468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⚡ Integração em 30 dias (vs. 6 meses)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4572000"/>
            <a:ext cx="2468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🔌 Plug-and-play para parceiros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4572000"/>
            <a:ext cx="2468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📡 API RESTful + OpenAPI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29200"/>
            <a:ext cx="2468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🔄 Webhooks em tempo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5029200"/>
            <a:ext cx="2468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🧪 Sandbox para testes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5029200"/>
            <a:ext cx="2468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📊 Dashboard de monitoramento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JBF Capital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64008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4A3B8"/>
                </a:solidFill>
              </a:defRPr>
            </a:pPr>
            <a:r>
              <a:t>Pitch Deck Institucional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863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293B"/>
                </a:solidFill>
              </a:defRPr>
            </a:pPr>
            <a:r>
              <a:t>Nossos Valores e Cultura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828800"/>
            <a:ext cx="2194560" cy="16459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/>
            </a:pPr>
            <a:r>
              <a:t>🎯</a:t>
            </a:r>
          </a:p>
          <a:p>
            <a:pPr algn="ctr">
              <a:spcBef>
                <a:spcPts val="800"/>
              </a:spcBef>
              <a:defRPr sz="1300" b="1">
                <a:solidFill>
                  <a:srgbClr val="FFFFFF"/>
                </a:solidFill>
              </a:defRPr>
            </a:pPr>
            <a:r>
              <a:t>FOCO NO CLIENTE</a:t>
            </a:r>
          </a:p>
          <a:p>
            <a:pPr algn="ctr">
              <a:spcBef>
                <a:spcPts val="500"/>
              </a:spcBef>
              <a:defRPr sz="1000">
                <a:solidFill>
                  <a:srgbClr val="FFFFFF"/>
                </a:solidFill>
              </a:defRPr>
            </a:pPr>
            <a:r>
              <a:t>Cliente no centro</a:t>
            </a:r>
            <a:br/>
            <a:r>
              <a:t>de todas decisões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8960" y="1828800"/>
            <a:ext cx="2194560" cy="16459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/>
            </a:pPr>
            <a:r>
              <a:t>🤝</a:t>
            </a:r>
          </a:p>
          <a:p>
            <a:pPr algn="ctr">
              <a:spcBef>
                <a:spcPts val="800"/>
              </a:spcBef>
              <a:defRPr sz="1300" b="1">
                <a:solidFill>
                  <a:srgbClr val="FFFFFF"/>
                </a:solidFill>
              </a:defRPr>
            </a:pPr>
            <a:r>
              <a:t>TRANSPARÊNCIA</a:t>
            </a:r>
          </a:p>
          <a:p>
            <a:pPr algn="ctr">
              <a:spcBef>
                <a:spcPts val="500"/>
              </a:spcBef>
              <a:defRPr sz="1000">
                <a:solidFill>
                  <a:srgbClr val="FFFFFF"/>
                </a:solidFill>
              </a:defRPr>
            </a:pPr>
            <a:r>
              <a:t>Comunicação clara</a:t>
            </a:r>
            <a:br/>
            <a:r>
              <a:t>e honesta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0" y="1828800"/>
            <a:ext cx="2194560" cy="16459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/>
            </a:pPr>
            <a:r>
              <a:t>🚀</a:t>
            </a:r>
          </a:p>
          <a:p>
            <a:pPr algn="ctr">
              <a:spcBef>
                <a:spcPts val="800"/>
              </a:spcBef>
              <a:defRPr sz="1300" b="1">
                <a:solidFill>
                  <a:srgbClr val="FFFFFF"/>
                </a:solidFill>
              </a:defRPr>
            </a:pPr>
            <a:r>
              <a:t>INOVAÇÃO</a:t>
            </a:r>
          </a:p>
          <a:p>
            <a:pPr algn="ctr">
              <a:spcBef>
                <a:spcPts val="500"/>
              </a:spcBef>
              <a:defRPr sz="1000">
                <a:solidFill>
                  <a:srgbClr val="FFFFFF"/>
                </a:solidFill>
              </a:defRPr>
            </a:pPr>
            <a:r>
              <a:t>Tecnologia como</a:t>
            </a:r>
            <a:br/>
            <a:r>
              <a:t>diferencial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3840480"/>
            <a:ext cx="2194560" cy="16459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/>
            </a:pPr>
            <a:r>
              <a:t>💼</a:t>
            </a:r>
          </a:p>
          <a:p>
            <a:pPr algn="ctr">
              <a:spcBef>
                <a:spcPts val="800"/>
              </a:spcBef>
              <a:defRPr sz="1300" b="1">
                <a:solidFill>
                  <a:srgbClr val="FFFFFF"/>
                </a:solidFill>
              </a:defRPr>
            </a:pPr>
            <a:r>
              <a:t>EXCELÊNCIA</a:t>
            </a:r>
          </a:p>
          <a:p>
            <a:pPr algn="ctr">
              <a:spcBef>
                <a:spcPts val="500"/>
              </a:spcBef>
              <a:defRPr sz="1000">
                <a:solidFill>
                  <a:srgbClr val="FFFFFF"/>
                </a:solidFill>
              </a:defRPr>
            </a:pPr>
            <a:r>
              <a:t>Qualidade em</a:t>
            </a:r>
            <a:br/>
            <a:r>
              <a:t>cada entrega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3840480"/>
            <a:ext cx="2194560" cy="16459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/>
            </a:pPr>
            <a:r>
              <a:t>🌱</a:t>
            </a:r>
          </a:p>
          <a:p>
            <a:pPr algn="ctr">
              <a:spcBef>
                <a:spcPts val="800"/>
              </a:spcBef>
              <a:defRPr sz="1300" b="1">
                <a:solidFill>
                  <a:srgbClr val="FFFFFF"/>
                </a:solidFill>
              </a:defRPr>
            </a:pPr>
            <a:r>
              <a:t>CRESCIMENTO</a:t>
            </a:r>
            <a:br/>
            <a:r>
              <a:t>SUSTENTÁVEL</a:t>
            </a:r>
          </a:p>
          <a:p>
            <a:pPr algn="ctr">
              <a:spcBef>
                <a:spcPts val="500"/>
              </a:spcBef>
              <a:defRPr sz="1000">
                <a:solidFill>
                  <a:srgbClr val="FFFFFF"/>
                </a:solidFill>
              </a:defRPr>
            </a:pPr>
            <a:r>
              <a:t>Impacto positivo</a:t>
            </a:r>
            <a:br/>
            <a:r>
              <a:t>de longo prazo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60720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667EEA"/>
                </a:solidFill>
              </a:defRPr>
            </a:pPr>
            <a:r>
              <a:t>Missão: Democratizar o acesso ao crédito através de tecnologia, transparência e parcerias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JBF Capital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64008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4A3B8"/>
                </a:solidFill>
              </a:defRPr>
            </a:pPr>
            <a:r>
              <a:t>Pitch Deck Institucional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863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293B"/>
                </a:solidFill>
              </a:defRPr>
            </a:pPr>
            <a:r>
              <a:t>Valor Agregado ao Cliente</a:t>
            </a:r>
          </a:p>
          <a:p>
            <a:pPr>
              <a:spcBef>
                <a:spcPts val="1000"/>
              </a:spcBef>
              <a:defRPr sz="1800">
                <a:solidFill>
                  <a:srgbClr val="64748B"/>
                </a:solidFill>
              </a:defRPr>
            </a:pPr>
            <a:r>
              <a:t>Impacto Real na Vida das Pessoas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Aspecto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2011680" cy="36576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51760" y="20116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Tradicional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0" y="2011680"/>
            <a:ext cx="1828800" cy="36576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0" y="20116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JBF Capital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2011680"/>
            <a:ext cx="1828800" cy="36576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20116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Benefício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011680"/>
            <a:ext cx="1828800" cy="36576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6888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475569"/>
                </a:solidFill>
              </a:defRPr>
            </a:pPr>
            <a:r>
              <a:t>Taxa de Juros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4688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475569"/>
                </a:solidFill>
              </a:defRPr>
            </a:pPr>
            <a:r>
              <a:t>2,5% a.m.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4688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475569"/>
                </a:solidFill>
              </a:defRPr>
            </a:pPr>
            <a:r>
              <a:t>1,2% a.m.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4688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52% menor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2608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475569"/>
                </a:solidFill>
              </a:defRPr>
            </a:pPr>
            <a:r>
              <a:t>Aprovação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2926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475569"/>
                </a:solidFill>
              </a:defRPr>
            </a:pPr>
            <a:r>
              <a:t>30-60 dias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926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475569"/>
                </a:solidFill>
              </a:defRPr>
            </a:pPr>
            <a:r>
              <a:t>48 horas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926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15-30x mais rápido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38328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475569"/>
                </a:solidFill>
              </a:defRPr>
            </a:pPr>
            <a:r>
              <a:t>Processo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33832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475569"/>
                </a:solidFill>
              </a:defRPr>
            </a:pPr>
            <a:r>
              <a:t>Presencial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3832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475569"/>
                </a:solidFill>
              </a:defRPr>
            </a:pPr>
            <a:r>
              <a:t>100% digital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3832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Total comodidade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84048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475569"/>
                </a:solidFill>
              </a:defRPr>
            </a:pPr>
            <a:r>
              <a:t>Transparência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38404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475569"/>
                </a:solidFill>
              </a:defRPr>
            </a:pPr>
            <a:r>
              <a:t>Taxas ocultas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8404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475569"/>
                </a:solidFill>
              </a:defRPr>
            </a:pPr>
            <a:r>
              <a:t>Tudo às claras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8404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Sem surpresas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29768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475569"/>
                </a:solidFill>
              </a:defRPr>
            </a:pPr>
            <a:r>
              <a:t>Suporte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1760" y="42976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475569"/>
                </a:solidFill>
              </a:defRPr>
            </a:pPr>
            <a:r>
              <a:t>Comercial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2976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475569"/>
                </a:solidFill>
              </a:defRPr>
            </a:pPr>
            <a:r>
              <a:t>24/7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2976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Sempre disponível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754880"/>
            <a:ext cx="2468880" cy="1188720"/>
          </a:xfrm>
          <a:prstGeom prst="roundRect">
            <a:avLst/>
          </a:prstGeom>
          <a:solidFill>
            <a:srgbClr val="F8FAFC"/>
          </a:solidFill>
          <a:ln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000" i="1">
                <a:solidFill>
                  <a:srgbClr val="475569"/>
                </a:solidFill>
              </a:defRPr>
            </a:pPr>
            <a:r>
              <a:t>"R$ 200k em 2 dias.</a:t>
            </a:r>
          </a:p>
          <a:p>
            <a:r>
              <a:t>Economizei R$ 40k"</a:t>
            </a:r>
          </a:p>
          <a:p>
            <a:br/>
            <a:pPr>
              <a:spcBef>
                <a:spcPts val="500"/>
              </a:spcBef>
              <a:defRPr sz="900" b="1">
                <a:solidFill>
                  <a:srgbClr val="667EEA"/>
                </a:solidFill>
              </a:defRPr>
            </a:pPr>
            <a:r>
              <a:t>— Maria S., Empresária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83280" y="4754880"/>
            <a:ext cx="2468880" cy="1188720"/>
          </a:xfrm>
          <a:prstGeom prst="roundRect">
            <a:avLst/>
          </a:prstGeom>
          <a:solidFill>
            <a:srgbClr val="F8FAFC"/>
          </a:solidFill>
          <a:ln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000" i="1">
                <a:solidFill>
                  <a:srgbClr val="475569"/>
                </a:solidFill>
              </a:defRPr>
            </a:pPr>
            <a:r>
              <a:t>"Home Equity com</a:t>
            </a:r>
          </a:p>
          <a:p>
            <a:r>
              <a:t>taxa 60% menor"</a:t>
            </a:r>
          </a:p>
          <a:p>
            <a:br/>
            <a:pPr>
              <a:spcBef>
                <a:spcPts val="500"/>
              </a:spcBef>
              <a:defRPr sz="900" b="1">
                <a:solidFill>
                  <a:srgbClr val="667EEA"/>
                </a:solidFill>
              </a:defRPr>
            </a:pPr>
            <a:r>
              <a:t>— Carlos A., Proprietário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26480" y="4754880"/>
            <a:ext cx="2468880" cy="1188720"/>
          </a:xfrm>
          <a:prstGeom prst="roundRect">
            <a:avLst/>
          </a:prstGeom>
          <a:solidFill>
            <a:srgbClr val="F8FAFC"/>
          </a:solidFill>
          <a:ln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000" i="1">
                <a:solidFill>
                  <a:srgbClr val="475569"/>
                </a:solidFill>
              </a:defRPr>
            </a:pPr>
            <a:r>
              <a:t>"Aprovada com</a:t>
            </a:r>
          </a:p>
          <a:p>
            <a:r>
              <a:t>análise justa"</a:t>
            </a:r>
          </a:p>
          <a:p>
            <a:br/>
            <a:pPr>
              <a:spcBef>
                <a:spcPts val="500"/>
              </a:spcBef>
              <a:defRPr sz="900" b="1">
                <a:solidFill>
                  <a:srgbClr val="667EEA"/>
                </a:solidFill>
              </a:defRPr>
            </a:pPr>
            <a:r>
              <a:t>— Ana L., Autônoma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JBF Capital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86000" y="64008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4A3B8"/>
                </a:solidFill>
              </a:defRPr>
            </a:pPr>
            <a:r>
              <a:t>Pitch Deck Institucional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0F2FA"/>
            </a:gs>
            <a:gs pos="100000">
              <a:srgbClr val="FAFAFF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667EEA"/>
                </a:solidFill>
              </a:defRPr>
            </a:pPr>
            <a:r>
              <a:t>Vamos Construir o Futuro do Crédito Juntos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0" y="3200400"/>
            <a:ext cx="5486400" cy="22860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💼 INVESTIDORES</a:t>
            </a:r>
          </a:p>
          <a:p>
            <a:r>
              <a:t>Rodada Serie A - R$ 20 MM</a:t>
            </a:r>
          </a:p>
          <a:p>
            <a:br/>
            <a:pPr algn="ctr">
              <a:spcBef>
                <a:spcPts val="1500"/>
              </a:spcBef>
              <a:defRPr sz="1800" b="1">
                <a:solidFill>
                  <a:srgbClr val="FFFFFF"/>
                </a:solidFill>
              </a:defRPr>
            </a:pPr>
            <a:r>
              <a:t>🤝 PARCEIROS</a:t>
            </a:r>
            <a:br/>
            <a:r>
              <a:t>Integração em 30 dias</a:t>
            </a:r>
          </a:p>
          <a:p>
            <a:br/>
            <a:pPr algn="ctr">
              <a:spcBef>
                <a:spcPts val="2000"/>
              </a:spcBef>
              <a:defRPr sz="1600">
                <a:solidFill>
                  <a:srgbClr val="FFFFFF"/>
                </a:solidFill>
              </a:defRPr>
            </a:pPr>
            <a:r>
              <a:t>📧 contato@jbfcapital.com.br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7607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1E293B"/>
                </a:solidFill>
              </a:defRPr>
            </a:pPr>
            <a:r>
              <a:t>Obrigado pela atenção. Estamos prontos para responder suas perguntas.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